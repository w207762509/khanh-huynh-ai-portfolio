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DM Sans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DFB0E0-7656-4BE2-B2F8-02F285923722}">
  <a:tblStyle styleId="{72DFB0E0-7656-4BE2-B2F8-02F2859237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DMSans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-bold.fntdata"/><Relationship Id="rId18" Type="http://schemas.openxmlformats.org/officeDocument/2006/relationships/font" Target="fonts/DM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00487" y="1558230"/>
            <a:ext cx="43910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PROJECT FINAL 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95525" y="2042073"/>
            <a:ext cx="7601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AI Diagnosis: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Brain Tumor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381625" y="4099470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084825" y="4823375"/>
            <a:ext cx="792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Khanh</a:t>
            </a:r>
            <a:r>
              <a:rPr b="0" i="0" lang="en-US" sz="22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Huynh, Dylan Legault, Grisel Barrera,  Dat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7957"/>
            <a:ext cx="3549699" cy="3164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227957"/>
            <a:ext cx="3549699" cy="3164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227957"/>
            <a:ext cx="3549699" cy="316408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 &amp; Technology Stack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6486525"/>
            <a:ext cx="2990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[Source: Project Report Phase 1-2: Infrastructure]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28675" y="3161407"/>
            <a:ext cx="320711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Stack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28675" y="3761482"/>
            <a:ext cx="30543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Python-based environment utilizing TensorFlow/Keras for AI modeling and OpenCV for noise reduction.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568874" y="3161407"/>
            <a:ext cx="320711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Hardware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568874" y="3761482"/>
            <a:ext cx="30543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NVIDIA GPU acceleration via Google Colab to manage heavy training cycles of clinical datasets.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09074" y="3161407"/>
            <a:ext cx="320711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Outcome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09074" y="3761482"/>
            <a:ext cx="30543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standardized 224x224 diagnostic pipeline ready for multi-modal surgical and clinical integration.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57085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8874" y="25708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9074" y="2570857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34641"/>
            <a:ext cx="5324475" cy="335071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&amp; Presentation Agenda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2134641"/>
            <a:ext cx="55908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4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The Goal</a:t>
            </a:r>
            <a:endParaRPr sz="1800"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2563284"/>
            <a:ext cx="53244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Develop a multi-class AI model to assist radiologists in identifying Glioma, Meningioma, and Pituitary tumors with high diagnostic sensitivity and explainable results.</a:t>
            </a:r>
            <a:endParaRPr sz="2100"/>
          </a:p>
        </p:txBody>
      </p:sp>
      <p:sp>
        <p:nvSpPr>
          <p:cNvPr id="119" name="Google Shape;119;p15"/>
          <p:cNvSpPr txBox="1"/>
          <p:nvPr/>
        </p:nvSpPr>
        <p:spPr>
          <a:xfrm>
            <a:off x="6572250" y="2572791"/>
            <a:ext cx="4752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Solution &amp; Infrastructure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72250" y="3009007"/>
            <a:ext cx="4752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Clinical Cleaning Workflow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72250" y="3445222"/>
            <a:ext cx="4752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Model Architecture Deep Dive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72250" y="3881437"/>
            <a:ext cx="4752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04.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Technical Implementation &amp; XAI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572250" y="4317652"/>
            <a:ext cx="4752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05.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Quantitative Evaluation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72250" y="4753867"/>
            <a:ext cx="4752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06.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Frontend Dashboard &amp; Demo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Cleaning &amp; Data Prep Flow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2204144"/>
            <a:ext cx="110299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Before model training, raw MRI images (7,200+ samples) pass through a 6-step diagnostic pipeline to ensure uniformity and noise removal.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5122515"/>
            <a:ext cx="110299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Result: Standardization critical for Convolutional Neural Network (CNN) layer consistency.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3524250"/>
            <a:ext cx="110299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430833" y="33813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31390" y="3810000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Grayscale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4238625"/>
            <a:ext cx="198536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Color simplification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3691979" y="33813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2792536" y="3810000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Blur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2842170" y="4238625"/>
            <a:ext cx="198536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Noise smoothing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953125" y="33813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053682" y="3810000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Threshold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103316" y="4238625"/>
            <a:ext cx="198536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Binary masking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8214270" y="33813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314827" y="3810000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Contour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364462" y="4238625"/>
            <a:ext cx="198536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Brain detection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0475416" y="33813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575973" y="3810000"/>
            <a:ext cx="2084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Crop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625607" y="4238625"/>
            <a:ext cx="198536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Centering image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2447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Hybrid Model Design Architecture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81025" y="6486525"/>
            <a:ext cx="3419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Layer Target: block5_conv3 for XAI heatmap integration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19312"/>
            <a:ext cx="51149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483350" y="2095942"/>
            <a:ext cx="532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 Hybrid VGG16: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Integrated pre-trained ImageNet expert fine-tuned for brain MRI data patterns.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83313" y="3017923"/>
            <a:ext cx="532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 Optimizer: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Adam with Categorical Cross-Entropy for multi-class (4 label) convergence.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25" y="2653754"/>
            <a:ext cx="2305050" cy="1455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5925" y="2653754"/>
            <a:ext cx="2305050" cy="145539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Evaluation Results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18"/>
          <p:cNvGraphicFramePr/>
          <p:nvPr/>
        </p:nvGraphicFramePr>
        <p:xfrm>
          <a:off x="581025" y="2434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{72DFB0E0-7656-4BE2-B2F8-02F285923722}</a:tableStyleId>
              </a:tblPr>
              <a:tblGrid>
                <a:gridCol w="1485900"/>
                <a:gridCol w="952500"/>
                <a:gridCol w="1485900"/>
                <a:gridCol w="885825"/>
                <a:gridCol w="1133475"/>
              </a:tblGrid>
              <a:tr h="58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Actual \ Predicted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Glioma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Meningioma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Tumor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Pituitary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8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Glioma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Meningioma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Tumor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Pituitary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18"/>
          <p:cNvSpPr txBox="1"/>
          <p:nvPr/>
        </p:nvSpPr>
        <p:spPr>
          <a:xfrm>
            <a:off x="6787991" y="2244179"/>
            <a:ext cx="49406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91% Overall Accuracy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905625" y="4299644"/>
            <a:ext cx="47053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Confusion matrix shows strong sensitivity in "No Tumor" and "Pituitary" classes.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1025" y="3767137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066925" y="3767137"/>
            <a:ext cx="952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019425" y="3767137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505325" y="3767137"/>
            <a:ext cx="8858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391150" y="3767137"/>
            <a:ext cx="1133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81025" y="4298602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066925" y="4298602"/>
            <a:ext cx="952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019425" y="4298602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505325" y="4298602"/>
            <a:ext cx="8858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391150" y="4298602"/>
            <a:ext cx="1133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81025" y="4830067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066925" y="4830067"/>
            <a:ext cx="952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019425" y="4830067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505325" y="4830067"/>
            <a:ext cx="8858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391150" y="4830067"/>
            <a:ext cx="1133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81025" y="5361533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066925" y="5361533"/>
            <a:ext cx="9525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019425" y="5361533"/>
            <a:ext cx="1485900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4505325" y="5361533"/>
            <a:ext cx="88582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391150" y="5361533"/>
            <a:ext cx="113347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153275" y="3158579"/>
            <a:ext cx="1809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153275" y="3661469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0.91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553575" y="3158579"/>
            <a:ext cx="1809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9553575" y="3661469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0.91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05276" y="185826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Demo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81025" y="3315592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LIVE SHOWCASE: STREAMLIT DASHBOARD</a:t>
            </a:r>
            <a:endParaRPr/>
          </a:p>
        </p:txBody>
      </p:sp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3525" y="4428083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775" y="4428083"/>
            <a:ext cx="6477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81025" y="1344066"/>
            <a:ext cx="5190648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Physician Dashboard &amp; Frontend UI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81025" y="2791875"/>
            <a:ext cx="70986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system is deployed via a </a:t>
            </a: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Gradio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interface for the </a:t>
            </a: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capstone project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however</a:t>
            </a: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for commercially scale, it can be deployed via Streamlit so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doctors don't need to interact with code.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81025" y="4071937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Simple Image Upload Button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81025" y="4508152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Automated Confidence Score Display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81025" y="4944367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One-click Report Generation</a:t>
            </a:r>
            <a:endParaRPr/>
          </a:p>
        </p:txBody>
      </p:sp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957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53196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96818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45245"/>
            <a:ext cx="5419725" cy="295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745246"/>
            <a:ext cx="5419725" cy="295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71525" y="581025"/>
            <a:ext cx="98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Insight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81025" y="1935500"/>
            <a:ext cx="19623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2543175" y="2037457"/>
            <a:ext cx="95211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Responsible Support Tool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2543175" y="2466082"/>
            <a:ext cx="90678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Our model achieves 91% accuracy, serving as a robust decision-support tool. It is designed to assist, not replace, medical professionals.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28675" y="4040534"/>
            <a:ext cx="517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Libraries &amp;vModules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99275" y="4559875"/>
            <a:ext cx="5229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-Image Processing &amp; Computer Vision: cv2(OpenCV), PIL (Pillow), imutils</a:t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-Deep Learning/ Machine Learning: TensorFlow/Keras, Scikit-learn</a:t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-Data Handling: Numpy, os, kagglehub, tqdm, random, warning</a:t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438900" y="4040534"/>
            <a:ext cx="517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438900" y="4640609"/>
            <a:ext cx="4924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-VGG16</a:t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-Custom CNN</a:t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-Keras Model API: defined more complex architecture and access Grad-CAM</a:t>
            </a:r>
            <a:endParaRPr sz="16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11585"/>
            <a:ext cx="5324475" cy="319682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Integration &amp; Explainable AI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02085"/>
            <a:ext cx="4943475" cy="276820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6286500" y="2211585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Explainability (Grad-CAM)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286500" y="2640210"/>
            <a:ext cx="53244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 medical AI, trust is key. We use Grad-CAM logic to highlight the exact regions of the brain scan that influenced the model's decision.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400800" y="372882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477000" y="3729781"/>
            <a:ext cx="5133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Identifies "Fired" neurons in final layer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400800" y="402216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477000" y="4023121"/>
            <a:ext cx="51339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Generates Superimposed Heatmaps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400800" y="431550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477000" y="4316462"/>
            <a:ext cx="5133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Validates tumor boundaries visually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71525" y="581025"/>
            <a:ext cx="98012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 &amp; Technical Sources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81025" y="581025"/>
            <a:ext cx="95250" cy="476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581025" y="5774084"/>
            <a:ext cx="110299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Thank you for your time.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85825" y="2439382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962025" y="2440334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Xie, Y., et al. (2022). CNN Techniques for Brain Tumor Classification. Healthcare.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85825" y="3026062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962025" y="3027015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Dorfner, F. J., et al. (2025). Review of Deep Learning for MRI. Nature Oncology.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885825" y="3612743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62025" y="3613695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Mansour, H. M., et al. (2024). Near-Infrared Fluorescence Imaging. Cancers.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591300" y="2439382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667500" y="2440334"/>
            <a:ext cx="49434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Project Data: masoudnickparvar/brain-tumor-mri-dataset (Kaggle).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591300" y="3026062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67488" y="3483028"/>
            <a:ext cx="49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Libraries: TensorFlow v2.15, OpenCV v4.8, Streamlit Dashboard.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591300" y="3612743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667500" y="4095758"/>
            <a:ext cx="49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Hardware: NVIDIA T4 GPU Acceleration environment.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